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A45B3B-A2AB-4DBF-9F1A-51DC8354F4B0}" v="2" dt="2026-04-21T17:21:45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3526C-AE5C-B457-8DB1-445A76D90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2EED4-6976-3F85-74F3-9AB146582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E8873-5698-CD7C-0D8A-999E122FD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640D9-C8DC-4487-B94F-BDA6A2B6367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9278A-3DF4-7961-7A94-7D41230C7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C64EE-3BCA-8764-F9F1-035952EBB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41C5E-589E-4D27-8326-1EA54623FB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128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20707-24CF-EF24-FD4B-14F239A5C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41685-BD90-3CBE-83BF-448A5986F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9F859-A02E-3D60-640C-3917E846C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640D9-C8DC-4487-B94F-BDA6A2B6367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FC608-8DA5-2720-0448-C74F85767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62639-1473-BA29-4D3E-036A430DD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41C5E-589E-4D27-8326-1EA54623FB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954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26DDD-787E-653E-740B-5C11CAD2C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7FA6E-AF5B-B6B3-A16A-59AEDD720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2E947-2083-638E-5A51-A9227C795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640D9-C8DC-4487-B94F-BDA6A2B6367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A41E4-EB3C-AD38-66FC-12779BF9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2F7BA-39C5-4EC4-3DD6-D6FF00575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41C5E-589E-4D27-8326-1EA54623FB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912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CAADC-D820-7348-4C93-0E4A9B7DD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5C718-2E78-5A02-CD59-DFD626F025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E2CE9-3A2B-3668-8A5E-796A6DD97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EEBC9-1BC6-9450-963C-49D9DF7EF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640D9-C8DC-4487-B94F-BDA6A2B6367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409DCD-691A-92D7-9353-72461C72A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830BE-9876-14E3-D8AD-C21F05A1B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41C5E-589E-4D27-8326-1EA54623FB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909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5FC2B-5CF8-5DAD-2C8E-B7D90CFCD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71A8B-8D3C-8E68-B119-94857A42F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A8D34-D5A6-A4D7-510E-AB5701BE9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5E8DA3-1EB4-C5BB-1031-8276A4242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11A46B-C3C9-9318-A905-140413A00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689FCE-A4B6-C20E-A921-319820DAA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640D9-C8DC-4487-B94F-BDA6A2B6367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B6034F-5818-0202-EE61-3D5C9612A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10EDCC-8BB2-D5DD-9BF3-28681DE11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41C5E-589E-4D27-8326-1EA54623FB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183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D64E-8772-4EC6-21D5-689059A7E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F6E62A-717D-BDD6-7A06-B1033FA3F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640D9-C8DC-4487-B94F-BDA6A2B6367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E79676-97E4-989B-1348-301DCBC0A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9B9F05-7127-2632-BB7E-874C0E2A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41C5E-589E-4D27-8326-1EA54623FB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610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B03B1C-0891-82C9-2673-7D100B6F1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640D9-C8DC-4487-B94F-BDA6A2B6367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F65E7C-B8CE-E241-625E-A22D82FE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E8BA1-5F36-0842-D8D6-BCC5ABDAE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41C5E-589E-4D27-8326-1EA54623FB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996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86858-F647-86A2-4E04-D37CACE56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16B21-D092-86B2-F779-39B32D4C9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2C371-736F-30D3-44DA-168D2296C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65B09-2E26-CA3B-D495-E94ED7C05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640D9-C8DC-4487-B94F-BDA6A2B6367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6D094-8D0A-EE84-15AA-A372D64EE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B2505-C2A7-F550-8314-3029BF31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41C5E-589E-4D27-8326-1EA54623FB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571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1403A-E07C-869B-3950-B3720009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282A0-B1B9-A6DA-45C4-D5CB0B45F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A1CAA-53E5-1E9C-A73E-750D38761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1A0A5-08EE-47E0-A7C2-B900D7F50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640D9-C8DC-4487-B94F-BDA6A2B6367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45418-8FFC-12AA-913E-04C2F5DB4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456F0-FA5C-D443-14AC-1E288E16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41C5E-589E-4D27-8326-1EA54623FB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867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AC299-CA21-E4F1-0DAB-5D90A94F6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E97BD-C589-B2B0-25BC-AEB287D99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31C8-7130-53F1-AB1F-7E8D75F0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640D9-C8DC-4487-B94F-BDA6A2B6367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D3FD7-197D-1285-D481-C1B2F9476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89730-7C11-8966-C63A-13D31F86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41C5E-589E-4D27-8326-1EA54623FB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706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42877A-5951-3CD1-6DE9-33D9A2972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60DEB-7E36-9CCF-C2F3-2CBFA23C7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05DE3-A751-249A-8CAF-B5B28A8E1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640D9-C8DC-4487-B94F-BDA6A2B6367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68295-D329-A2E0-5239-9AEEA8296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8E77E-40DA-7170-82BB-484132EFE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41C5E-589E-4D27-8326-1EA54623FB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995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B41A1B-C1A9-DDEF-D8CB-AAA92C46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2122A-6EE4-07AD-D75C-D35E63F3E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66765-B885-3953-524A-B81CCAA0A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640D9-C8DC-4487-B94F-BDA6A2B6367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51968-D1EA-FAF1-4995-D19EE8BE6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C7B4C-1D5E-260F-B682-FB17E8E0B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41C5E-589E-4D27-8326-1EA54623FB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3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c5xXnE1uDPY?si=8VHXGVHBpmReQCq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B46A5-CB58-4655-CD0B-D16BA37872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Medical Cost Analysis</a:t>
            </a:r>
          </a:p>
        </p:txBody>
      </p:sp>
    </p:spTree>
    <p:extLst>
      <p:ext uri="{BB962C8B-B14F-4D97-AF65-F5344CB8AC3E}">
        <p14:creationId xmlns:p14="http://schemas.microsoft.com/office/powerpoint/2010/main" val="1385030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BB225-3339-7BBD-3A86-90A576007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72" y="-25598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u="sng" dirty="0"/>
              <a:t>Dataset Overview</a:t>
            </a:r>
            <a:br>
              <a:rPr lang="en-IN" sz="2800" b="1" u="sng" dirty="0"/>
            </a:br>
            <a:r>
              <a:rPr lang="en-US" sz="2800" b="1" u="sng" dirty="0"/>
              <a:t>Raw Dataset &amp; Structured Table View</a:t>
            </a:r>
            <a:endParaRPr lang="en-IN" sz="2800" b="1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D763B1-0FE4-C27E-5DF7-D2CA983AC0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19" y="1346744"/>
            <a:ext cx="4393975" cy="27059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03E912-E2D1-FA56-6BBC-F1D5E0B5E5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014" y="1399584"/>
            <a:ext cx="4321147" cy="25651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C2557D-53F6-7806-B3CF-FD1183C3208B}"/>
              </a:ext>
            </a:extLst>
          </p:cNvPr>
          <p:cNvSpPr txBox="1"/>
          <p:nvPr/>
        </p:nvSpPr>
        <p:spPr>
          <a:xfrm>
            <a:off x="501706" y="4099438"/>
            <a:ext cx="3244906" cy="380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Full dataset (columns visible)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2857CB-FADC-AA2B-3F3C-32F79C96BF29}"/>
              </a:ext>
            </a:extLst>
          </p:cNvPr>
          <p:cNvSpPr txBox="1"/>
          <p:nvPr/>
        </p:nvSpPr>
        <p:spPr>
          <a:xfrm>
            <a:off x="6400800" y="4020428"/>
            <a:ext cx="3643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Table view (formatted Excel table)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786F4D-0AE6-D973-FE9E-2E3CECBBBF27}"/>
              </a:ext>
            </a:extLst>
          </p:cNvPr>
          <p:cNvSpPr txBox="1"/>
          <p:nvPr/>
        </p:nvSpPr>
        <p:spPr>
          <a:xfrm>
            <a:off x="501706" y="4814761"/>
            <a:ext cx="9981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dataset contains medical insurance details of individuals </a:t>
            </a:r>
            <a:br>
              <a:rPr lang="en-US" dirty="0"/>
            </a:br>
            <a:r>
              <a:rPr lang="en-US" dirty="0"/>
              <a:t>• It includes demographic and health-related attributes </a:t>
            </a:r>
            <a:br>
              <a:rPr lang="en-US" dirty="0"/>
            </a:br>
            <a:r>
              <a:rPr lang="en-US" dirty="0"/>
              <a:t>• Key variables: age, BMI, smoking status, region, and charges </a:t>
            </a:r>
            <a:br>
              <a:rPr lang="en-US" dirty="0"/>
            </a:br>
            <a:r>
              <a:rPr lang="en-US" dirty="0"/>
              <a:t>• The data is used to analyze factors affecting medical costs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0635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F45C4-58C7-A1AB-B25E-CE0204448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Basic Statistics and Data Understanding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FF194B-E0C5-8331-5EC2-6A4F7DF41C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6" y="1690688"/>
            <a:ext cx="5563376" cy="29436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032E06-7F16-3B45-AF00-E982A0363F27}"/>
              </a:ext>
            </a:extLst>
          </p:cNvPr>
          <p:cNvSpPr txBox="1"/>
          <p:nvPr/>
        </p:nvSpPr>
        <p:spPr>
          <a:xfrm>
            <a:off x="6271327" y="1690688"/>
            <a:ext cx="57696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The average medical charges indicate overall cost trends  </a:t>
            </a:r>
          </a:p>
          <a:p>
            <a:r>
              <a:rPr lang="en-US" dirty="0"/>
              <a:t>• The median values help understand the central distribution  </a:t>
            </a:r>
          </a:p>
          <a:p>
            <a:r>
              <a:rPr lang="en-US" dirty="0"/>
              <a:t>• Standard deviation shows variation in data  </a:t>
            </a:r>
          </a:p>
          <a:p>
            <a:r>
              <a:rPr lang="en-US" dirty="0"/>
              <a:t>• Charges have high variation compared to age and BMI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0305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A7D67-5955-5618-0C26-3C452C32F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77" y="18255"/>
            <a:ext cx="10515600" cy="1325563"/>
          </a:xfrm>
        </p:spPr>
        <p:txBody>
          <a:bodyPr/>
          <a:lstStyle/>
          <a:p>
            <a:r>
              <a:rPr lang="en-US" b="1" dirty="0"/>
              <a:t>Gender Wise Medical Cost Analysis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5B0E75-C425-AACC-956F-E01CABA69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83" y="1129710"/>
            <a:ext cx="4636736" cy="328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034DFC-91BC-D785-C893-C07BD15B6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86" y="4683650"/>
            <a:ext cx="4877481" cy="16759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DAEAC6-3D18-0C07-7B77-E3A0CE65EA51}"/>
              </a:ext>
            </a:extLst>
          </p:cNvPr>
          <p:cNvSpPr txBox="1"/>
          <p:nvPr/>
        </p:nvSpPr>
        <p:spPr>
          <a:xfrm>
            <a:off x="5996198" y="2079653"/>
            <a:ext cx="52274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• The analysis compares medical costs between male and female beneficiaries  </a:t>
            </a:r>
          </a:p>
          <a:p>
            <a:r>
              <a:rPr lang="en-US"/>
              <a:t>• Average charges vary slightly between genders  </a:t>
            </a:r>
          </a:p>
          <a:p>
            <a:r>
              <a:rPr lang="en-US"/>
              <a:t>• BMI differences are minimal between male and female  </a:t>
            </a:r>
          </a:p>
          <a:p>
            <a:r>
              <a:rPr lang="en-US"/>
              <a:t>• Gender alone is not a strong factor affecting medical costs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4409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DF0B0-BF5F-5A0B-BE1F-C7EC94948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</a:t>
            </a:r>
            <a:r>
              <a:rPr lang="en-US" b="1" dirty="0"/>
              <a:t>Impact of Smoking on Medical Costs</a:t>
            </a:r>
            <a:endParaRPr lang="en-IN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763E734-1A73-0F1B-C53E-5470103711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90" y="1750311"/>
            <a:ext cx="5222907" cy="3044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23FDDF-AE89-291A-D08F-766386B99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999" y="4854346"/>
            <a:ext cx="3477110" cy="16385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2C5FB4-578F-A195-1E14-9F14A32C9325}"/>
              </a:ext>
            </a:extLst>
          </p:cNvPr>
          <p:cNvSpPr txBox="1"/>
          <p:nvPr/>
        </p:nvSpPr>
        <p:spPr>
          <a:xfrm>
            <a:off x="6465536" y="2856488"/>
            <a:ext cx="50089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Smoking has a significant impact on medical costs  </a:t>
            </a:r>
          </a:p>
          <a:p>
            <a:r>
              <a:rPr lang="en-US" dirty="0"/>
              <a:t>• Smokers have much higher average charges compared to non-smokers  </a:t>
            </a:r>
          </a:p>
          <a:p>
            <a:r>
              <a:rPr lang="en-US" dirty="0"/>
              <a:t>• This indicates higher health risks associated with smoking  </a:t>
            </a:r>
          </a:p>
          <a:p>
            <a:r>
              <a:rPr lang="en-US" dirty="0"/>
              <a:t>• Smoking is one of the strongest factors affecting medical expenses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5720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1C93-10DE-5C5A-C9B2-A5C167D1B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DEPENDENTS ANALYSIS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F1189B-3B5F-0211-5A51-D3D2C62ADE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71" y="1186354"/>
            <a:ext cx="5931333" cy="32157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1B63D8-3120-0E34-E02B-4F75F6B18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286" y="5130350"/>
            <a:ext cx="4658164" cy="4644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90FCFA-D052-BA42-6CE3-E21045E3D013}"/>
              </a:ext>
            </a:extLst>
          </p:cNvPr>
          <p:cNvSpPr txBox="1"/>
          <p:nvPr/>
        </p:nvSpPr>
        <p:spPr>
          <a:xfrm>
            <a:off x="6918690" y="1982549"/>
            <a:ext cx="49037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This analysis examines the relationship between number of dependents and medical charges  </a:t>
            </a:r>
          </a:p>
          <a:p>
            <a:r>
              <a:rPr lang="en-US" dirty="0"/>
              <a:t>• The scatter plot shows no clear pattern between the variables  </a:t>
            </a:r>
          </a:p>
          <a:p>
            <a:r>
              <a:rPr lang="en-US" dirty="0"/>
              <a:t>• Correlation value indicates a weak relationship  </a:t>
            </a:r>
          </a:p>
          <a:p>
            <a:r>
              <a:rPr lang="en-US" dirty="0"/>
              <a:t>• Number of dependents does not significantly affect medical costs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858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5AE75-EECA-4A63-53B4-38638BA9B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45" y="0"/>
            <a:ext cx="10515600" cy="1325563"/>
          </a:xfrm>
        </p:spPr>
        <p:txBody>
          <a:bodyPr/>
          <a:lstStyle/>
          <a:p>
            <a:r>
              <a:rPr lang="en-IN" b="1" dirty="0"/>
              <a:t>Region Wise Medical Cost Analysis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3ABF11-B84F-5492-3C2B-9602959E1F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73" y="1325563"/>
            <a:ext cx="6191076" cy="3270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08B27D-9C13-B011-9CA2-B6D793500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73" y="4596277"/>
            <a:ext cx="5096586" cy="17716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F298F9-7CAA-B1A4-3893-DC9140D7ABBF}"/>
              </a:ext>
            </a:extLst>
          </p:cNvPr>
          <p:cNvSpPr txBox="1"/>
          <p:nvPr/>
        </p:nvSpPr>
        <p:spPr>
          <a:xfrm>
            <a:off x="7153359" y="2476163"/>
            <a:ext cx="46751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This analysis compares medical costs across different regions  </a:t>
            </a:r>
          </a:p>
          <a:p>
            <a:r>
              <a:rPr lang="en-US" dirty="0"/>
              <a:t>• Certain regions show higher average medical charges  </a:t>
            </a:r>
          </a:p>
          <a:p>
            <a:r>
              <a:rPr lang="en-US" dirty="0"/>
              <a:t>• BMI also varies slightly across regions  </a:t>
            </a:r>
          </a:p>
          <a:p>
            <a:r>
              <a:rPr lang="en-US" dirty="0"/>
              <a:t>• Regional factors may influence healthcare costs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790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BF6C9-F016-CC8D-7E6D-782272B22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Medical Cost Distribution Analysis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8A224-C2A3-33B5-43BD-774D4393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747AF1-1D5A-8FDD-5050-9EA1265FC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59" y="2265771"/>
            <a:ext cx="6220009" cy="31813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5ECB2B-4BBA-0438-0DB6-CAD8144AD9E5}"/>
              </a:ext>
            </a:extLst>
          </p:cNvPr>
          <p:cNvSpPr txBox="1"/>
          <p:nvPr/>
        </p:nvSpPr>
        <p:spPr>
          <a:xfrm>
            <a:off x="7636927" y="2501318"/>
            <a:ext cx="33662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The histogram shows the distribution of medical charges  </a:t>
            </a:r>
          </a:p>
          <a:p>
            <a:r>
              <a:rPr lang="en-US" dirty="0"/>
              <a:t>• Most individuals fall into lower cost ranges  </a:t>
            </a:r>
          </a:p>
          <a:p>
            <a:r>
              <a:rPr lang="en-US" dirty="0"/>
              <a:t>• A smaller number of individuals have very high medical expenses  </a:t>
            </a:r>
          </a:p>
          <a:p>
            <a:r>
              <a:rPr lang="en-US" dirty="0"/>
              <a:t>• This indicates a right-skewed distribution of costs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0888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4CDE7-8AC1-9BE1-862E-4406015A0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</a:t>
            </a:r>
            <a:r>
              <a:rPr lang="en-IN" b="1" dirty="0"/>
              <a:t>BMI Category Analysis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2E4BEE-2D11-088A-BF75-02D34CBF8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30" y="1841809"/>
            <a:ext cx="1771569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27F698-D7B7-1467-5788-2B1B997199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415" y="1811718"/>
            <a:ext cx="3745967" cy="3075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AAB72D-32E2-113E-0D8A-0640F4FA8C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620" y="1834700"/>
            <a:ext cx="5429756" cy="29800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10E7DD-483F-A323-0605-19112F39FFD6}"/>
              </a:ext>
            </a:extLst>
          </p:cNvPr>
          <p:cNvSpPr txBox="1"/>
          <p:nvPr/>
        </p:nvSpPr>
        <p:spPr>
          <a:xfrm>
            <a:off x="2459979" y="5122258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Individuals are categorized based on BMI values  </a:t>
            </a:r>
          </a:p>
          <a:p>
            <a:r>
              <a:rPr lang="en-US" dirty="0"/>
              <a:t>• Most individuals fall into overweight and obese categories  </a:t>
            </a:r>
          </a:p>
          <a:p>
            <a:r>
              <a:rPr lang="en-US" dirty="0"/>
              <a:t>• Fewer individuals are in the normal or underweight category  </a:t>
            </a:r>
          </a:p>
          <a:p>
            <a:r>
              <a:rPr lang="en-US" dirty="0"/>
              <a:t>• Higher BMI levels may contribute to increased medical costs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475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90493-3D59-303C-AE78-658DB353E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BMI vs Medical Cost Analysis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2C58CA-52A3-D0B0-CBA3-46EA60CBCF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24" y="1690688"/>
            <a:ext cx="5837465" cy="32157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CBF659-DA1F-2113-89B9-839532AC78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083" y="5296097"/>
            <a:ext cx="4086795" cy="781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3CF70A-EDA6-7069-DD94-BCB283E665E4}"/>
              </a:ext>
            </a:extLst>
          </p:cNvPr>
          <p:cNvSpPr txBox="1"/>
          <p:nvPr/>
        </p:nvSpPr>
        <p:spPr>
          <a:xfrm>
            <a:off x="7468949" y="2532807"/>
            <a:ext cx="41107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• This analysis examines the relationship between BMI and medical charges  </a:t>
            </a:r>
          </a:p>
          <a:p>
            <a:r>
              <a:rPr lang="en-US"/>
              <a:t>• The scatter plot shows a positive trend between BMI and costs  </a:t>
            </a:r>
          </a:p>
          <a:p>
            <a:r>
              <a:rPr lang="en-US"/>
              <a:t>• Higher BMI is generally associated with higher medical expenses  </a:t>
            </a:r>
          </a:p>
          <a:p>
            <a:r>
              <a:rPr lang="en-US"/>
              <a:t>• BMI is an important factor influencing healthcare costs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0735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03F01-40C5-36B8-9618-DAF35C83F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Smoking and Region Impact on Medical Costs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F1D4E9-1ABA-03FA-F6BE-7C1EB857A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79" y="1874177"/>
            <a:ext cx="4900202" cy="29082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F9C530-C3C3-B015-7D2E-3934D3A989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984" y="2089862"/>
            <a:ext cx="5801535" cy="24768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3D2CDD-CA76-450A-815D-CAE9CAA91CD0}"/>
              </a:ext>
            </a:extLst>
          </p:cNvPr>
          <p:cNvSpPr txBox="1"/>
          <p:nvPr/>
        </p:nvSpPr>
        <p:spPr>
          <a:xfrm>
            <a:off x="1521303" y="4903773"/>
            <a:ext cx="8593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This analysis examines the combined effect of smoking and region on medical costs  </a:t>
            </a:r>
          </a:p>
          <a:p>
            <a:r>
              <a:rPr lang="en-US" dirty="0"/>
              <a:t>• Smokers consistently have higher charges across all regions  </a:t>
            </a:r>
          </a:p>
          <a:p>
            <a:r>
              <a:rPr lang="en-US" dirty="0"/>
              <a:t>• Certain regions show significantly higher costs for smokers  </a:t>
            </a:r>
          </a:p>
          <a:p>
            <a:r>
              <a:rPr lang="en-US" dirty="0"/>
              <a:t>• This indicates both smoking and location influence healthcare expenses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474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E4E95-441A-D098-99D2-7BD552C9D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</a:t>
            </a:r>
            <a:r>
              <a:rPr lang="en-IN" b="1" dirty="0"/>
              <a:t>Interactive Dashboard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F32500-D19D-5C83-FAE1-EF3864BE18D3}"/>
              </a:ext>
            </a:extLst>
          </p:cNvPr>
          <p:cNvSpPr txBox="1"/>
          <p:nvPr/>
        </p:nvSpPr>
        <p:spPr>
          <a:xfrm>
            <a:off x="8302428" y="2362874"/>
            <a:ext cx="34472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The dashboard provides an interactive view of medical cost data  </a:t>
            </a:r>
          </a:p>
          <a:p>
            <a:r>
              <a:rPr lang="en-US" dirty="0"/>
              <a:t>• Slicers are used to filter data by gender, smoking status, region, and BMI category  </a:t>
            </a:r>
          </a:p>
          <a:p>
            <a:r>
              <a:rPr lang="en-US" dirty="0"/>
              <a:t>• Users can dynamically explore insights by applying filters  </a:t>
            </a:r>
          </a:p>
          <a:p>
            <a:r>
              <a:rPr lang="en-US" dirty="0"/>
              <a:t>• This enhances decision-making and data understanding 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A6A8E64-F9E0-C64C-D8F6-0F1C0BC27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04" y="2017846"/>
            <a:ext cx="8205324" cy="39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238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B80DE-7277-0F49-9C4A-2ED98C2B2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Youtube</a:t>
            </a:r>
            <a:r>
              <a:rPr lang="en-IN" dirty="0"/>
              <a:t> link:-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8C1B0-5547-3FB1-1049-1404687BB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https://youtu.be/c5xXnE1uDPY?si=8VHXGVHBpmReQCq2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3321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521</Words>
  <Application>Microsoft Office PowerPoint</Application>
  <PresentationFormat>Widescreen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Medical Cost Analysis</vt:lpstr>
      <vt:lpstr>Dataset Overview Raw Dataset &amp; Structured Table View</vt:lpstr>
      <vt:lpstr>1. Basic Statistics and Data Understanding</vt:lpstr>
      <vt:lpstr>Gender Wise Medical Cost Analysis</vt:lpstr>
      <vt:lpstr> Impact of Smoking on Medical Costs</vt:lpstr>
      <vt:lpstr>DEPENDENTS ANALYSIS </vt:lpstr>
      <vt:lpstr>Region Wise Medical Cost Analysis</vt:lpstr>
      <vt:lpstr>Medical Cost Distribution Analysis  </vt:lpstr>
      <vt:lpstr> BMI Category Analysis</vt:lpstr>
      <vt:lpstr>BMI vs Medical Cost Analysis</vt:lpstr>
      <vt:lpstr>Smoking and Region Impact on Medical Costs</vt:lpstr>
      <vt:lpstr> Interactive Dashboard</vt:lpstr>
      <vt:lpstr>Youtube link:-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AKSHAYAREDDY VEM</dc:creator>
  <cp:lastModifiedBy>AKSHAYAREDDY VEM</cp:lastModifiedBy>
  <cp:revision>2</cp:revision>
  <dcterms:created xsi:type="dcterms:W3CDTF">2026-04-02T18:11:24Z</dcterms:created>
  <dcterms:modified xsi:type="dcterms:W3CDTF">2026-04-21T17:22:16Z</dcterms:modified>
</cp:coreProperties>
</file>